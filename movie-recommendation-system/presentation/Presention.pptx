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embeddedFontLst>
    <p:embeddedFont>
      <p:font typeface="Space Grotesk" panose="020B0604020202020204" charset="0"/>
      <p:regular r:id="rId23"/>
      <p:bold r:id="rId24"/>
    </p:embeddedFont>
    <p:embeddedFont>
      <p:font typeface="Urbanist" panose="020B0604020202020204" charset="0"/>
      <p:regular r:id="rId25"/>
      <p:bold r:id="rId26"/>
      <p:italic r:id="rId27"/>
      <p:boldItalic r:id="rId28"/>
    </p:embeddedFont>
    <p:embeddedFont>
      <p:font typeface="Urbanist ExtraBold" panose="020B0604020202020204" charset="0"/>
      <p:bold r:id="rId29"/>
      <p:boldItalic r:id="rId30"/>
    </p:embeddedFont>
    <p:embeddedFont>
      <p:font typeface="Urbanist Medium" panose="020B0604020202020204" charset="0"/>
      <p:regular r:id="rId31"/>
      <p:bold r:id="rId32"/>
      <p:italic r:id="rId33"/>
      <p:boldItalic r:id="rId34"/>
    </p:embeddedFont>
    <p:embeddedFont>
      <p:font typeface="Urbanist SemiBold" panose="020B060402020202020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5.png"/><Relationship Id="rId9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://www.linkedin.com/in/mohammed-01-salah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MohammedAhmed-01/movie-recommendation-system/tree/main" TargetMode="Externa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571500"/>
            <a:ext cx="10668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MOVIE RECOMMENDATIONS SYSTEM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95300" y="971550"/>
            <a:ext cx="11201400" cy="17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Finding the Right Movie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1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Shouldn't Be This Hard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2975371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Too many choices. Zero relevance. Constant overwhelm.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100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4910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07206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1252537"/>
            <a:ext cx="520065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POPULAR ISN'T ALWAYS RELEVANT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2890837"/>
            <a:ext cx="4953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"Top 10" list is a generic solution to a personal problem. One-size-fits-all fails the individual user.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90600" y="3862387"/>
            <a:ext cx="4533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Popularity bias hides niche gems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90600" y="4443412"/>
            <a:ext cx="4533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Diverse tastes are ignored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90600" y="5024437"/>
            <a:ext cx="4533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Engagement drops with fatigue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652712"/>
            <a:ext cx="336545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652712"/>
            <a:ext cx="336545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652712"/>
            <a:ext cx="3365599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58900" y="30813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38676" y="308133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18600" y="30813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62000" y="57150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ANALYZING MOVIES FROM MULTIPLE ANGLES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087914" y="3824287"/>
            <a:ext cx="2713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Behavior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152525" y="4310062"/>
            <a:ext cx="2584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What are users actually watching together in sequence?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739115" y="3824287"/>
            <a:ext cx="2713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Influence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803725" y="4310062"/>
            <a:ext cx="2584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Which movies act as bridges in the global film network?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390312" y="3824287"/>
            <a:ext cx="271377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Meaning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454925" y="4310062"/>
            <a:ext cx="2584549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What do these movies actually feel like and stand for?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71500" y="1214437"/>
            <a:ext cx="520065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 MULTI-LAYER ENGINE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2852737"/>
            <a:ext cx="49530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We've engineered a hybrid intelligence system that processes movies through three distinct lenses.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28825"/>
            <a:ext cx="5048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38350"/>
            <a:ext cx="502920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5955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5194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4443412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762000" y="57150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IT ALL STARTS WITH DATA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1152525" y="2547937"/>
            <a:ext cx="46577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MovieLens:</a:t>
            </a: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25M+ user interactions and transaction patterns.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1181100" y="3471862"/>
            <a:ext cx="46291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TMDb:</a:t>
            </a: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Deep metadata including overviews, cast, and genres.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1238250" y="4395787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Synergy:</a:t>
            </a: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Behavior meets content for a holistic view.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867025"/>
            <a:ext cx="17145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00375" y="2867025"/>
            <a:ext cx="17145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8750" y="2867025"/>
            <a:ext cx="17145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77125" y="2867025"/>
            <a:ext cx="17145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15500" y="2867025"/>
            <a:ext cx="171450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/>
          <p:nvPr/>
        </p:nvSpPr>
        <p:spPr>
          <a:xfrm>
            <a:off x="2571750" y="3295650"/>
            <a:ext cx="33337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4810125" y="3295650"/>
            <a:ext cx="33337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7048500" y="3295650"/>
            <a:ext cx="33337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9286875" y="3295650"/>
            <a:ext cx="33337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1476375" y="3124200"/>
            <a:ext cx="2857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Raw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3657600" y="3124200"/>
            <a:ext cx="4000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Clean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881687" y="3124200"/>
            <a:ext cx="4286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Graph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8086725" y="3124200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Embed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10306050" y="3124200"/>
            <a:ext cx="5334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Insights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762000" y="57150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TURNING RAW DATA INTO SIGNALS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762000" y="4314825"/>
            <a:ext cx="10668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Our pipeline automates the transformation from noisy spreadsheets to actionable recommendation vectors.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028825"/>
            <a:ext cx="5048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786187"/>
            <a:ext cx="5048250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2038350"/>
            <a:ext cx="50292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762000" y="57150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WHAT DO USERS WATCH TOGETHER?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381750" y="2690812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Association Rules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381750" y="2909887"/>
            <a:ext cx="504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By mining billions of transaction pairs, we find the "Co-watch" logic.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572250" y="3976687"/>
            <a:ext cx="4667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IF watched {Inception} →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 LIKELY {Interstellar}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572250" y="4757737"/>
            <a:ext cx="4667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Confidence Score: 0.89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581150"/>
            <a:ext cx="10668000" cy="47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762000" y="2624137"/>
            <a:ext cx="50482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0" i="0" u="none" strike="noStrike" cap="non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0.024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762000" y="57150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SOME MOVIES ARE INFLUENTIAL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381750" y="2667000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Structural Influence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381750" y="2886075"/>
            <a:ext cx="50482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We don't just count views. We measure </a:t>
            </a:r>
            <a:r>
              <a:rPr lang="en-US" sz="1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Influence</a:t>
            </a: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Using PageRank, we identify the "gatekeeper" movies that connect different genres and tastes.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243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905375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571500" y="1419225"/>
            <a:ext cx="520065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MOVIES FORM A NETWORK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571500" y="3057525"/>
            <a:ext cx="49530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We visualize the film industry not as a catalog, but as a living ecosystem where movies are nodes and shared viewership is the edge.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962025" y="4276725"/>
            <a:ext cx="45624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Discovery of clusters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962025" y="4857750"/>
            <a:ext cx="45624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Pathfinding between genres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028825"/>
            <a:ext cx="5048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038350"/>
            <a:ext cx="50292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762000" y="57150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SIMILARITY BEYOND GENRE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6381750" y="3138487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BERT Embeddings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6381750" y="3357562"/>
            <a:ext cx="504825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We use Google's BERT model to analyze the </a:t>
            </a:r>
            <a:r>
              <a:rPr lang="en-US" sz="1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DNA of a plot</a:t>
            </a: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It understands that "a futuristic detective" is similar to "a cyberpunk investigator" even if they don't share keywords.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162175"/>
            <a:ext cx="336545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162175"/>
            <a:ext cx="336545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44625" y="259080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95826" y="259080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/>
        </p:nvSpPr>
        <p:spPr>
          <a:xfrm>
            <a:off x="762000" y="57150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WHEN BEHAVIOR FAILS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762000" y="5362575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Semantic Analysis solves the "Cold Start" for Day 1 releases.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1087914" y="3333750"/>
            <a:ext cx="2713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Problem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1152525" y="3819525"/>
            <a:ext cx="25844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New movies have no watch data. They are invisible to pattern miners.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4739115" y="3333750"/>
            <a:ext cx="2713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Solution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4803725" y="3819525"/>
            <a:ext cx="25844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BERT similarity bridges the gap by comparing descriptions immediately.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4"/>
          <p:cNvSpPr txBox="1"/>
          <p:nvPr/>
        </p:nvSpPr>
        <p:spPr>
          <a:xfrm>
            <a:off x="762000" y="3267075"/>
            <a:ext cx="50482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0" i="0" u="none" strike="noStrike" cap="non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82%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762000" y="57150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PREDICTABLE PATTERNS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6381750" y="3138487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 Habits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6381750" y="3357562"/>
            <a:ext cx="504825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Our data shows that users follow consistent behavioral paths. By mastering </a:t>
            </a:r>
            <a:r>
              <a:rPr lang="en-US" sz="1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Association Rules</a:t>
            </a: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we can predict the next logical watch with high precision before the user even knows they want it.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581150"/>
            <a:ext cx="10668000" cy="47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5"/>
          <p:cNvSpPr txBox="1"/>
          <p:nvPr/>
        </p:nvSpPr>
        <p:spPr>
          <a:xfrm>
            <a:off x="762000" y="57150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INFLUENCE VS. POPULARITY</a:t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>
            <a:off x="762000" y="4405312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Viral hits are fleeting. Influential movies anchor the recommendation engine for long-term retention.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6"/>
          <p:cNvSpPr txBox="1"/>
          <p:nvPr/>
        </p:nvSpPr>
        <p:spPr>
          <a:xfrm>
            <a:off x="571500" y="1924050"/>
            <a:ext cx="520065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HIDDEN RELATIONSHIPS</a:t>
            </a:r>
            <a:endParaRPr/>
          </a:p>
        </p:txBody>
      </p:sp>
      <p:sp>
        <p:nvSpPr>
          <p:cNvPr id="248" name="Google Shape;248;p26"/>
          <p:cNvSpPr txBox="1"/>
          <p:nvPr/>
        </p:nvSpPr>
        <p:spPr>
          <a:xfrm>
            <a:off x="571500" y="3562350"/>
            <a:ext cx="4953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BERT discovered that "The Lion King" and "Hamlet" share massive vector similarity. The system understood the story structure, not just the "Animation" genre tag.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443162"/>
            <a:ext cx="3365450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443162"/>
            <a:ext cx="3365450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443162"/>
            <a:ext cx="3365599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16050" y="28336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251" y="28336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18600" y="28336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7"/>
          <p:cNvSpPr txBox="1"/>
          <p:nvPr/>
        </p:nvSpPr>
        <p:spPr>
          <a:xfrm>
            <a:off x="762000" y="57150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ONE METHOD IS NOT ENOUGH</a:t>
            </a:r>
            <a:endParaRPr/>
          </a:p>
        </p:txBody>
      </p:sp>
      <p:sp>
        <p:nvSpPr>
          <p:cNvPr id="261" name="Google Shape;261;p27"/>
          <p:cNvSpPr txBox="1"/>
          <p:nvPr/>
        </p:nvSpPr>
        <p:spPr>
          <a:xfrm>
            <a:off x="1087914" y="3519487"/>
            <a:ext cx="2713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Hybrid Model</a:t>
            </a:r>
            <a:endParaRPr/>
          </a:p>
        </p:txBody>
      </p:sp>
      <p:sp>
        <p:nvSpPr>
          <p:cNvPr id="262" name="Google Shape;262;p27"/>
          <p:cNvSpPr txBox="1"/>
          <p:nvPr/>
        </p:nvSpPr>
        <p:spPr>
          <a:xfrm>
            <a:off x="1152525" y="4005262"/>
            <a:ext cx="25844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We weigh all three signals into a single score. Behavior gives us </a:t>
            </a:r>
            <a:r>
              <a:rPr lang="en-US" sz="13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Realism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Graph gives us </a:t>
            </a:r>
            <a:r>
              <a:rPr lang="en-US" sz="13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Authority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BERT gives us </a:t>
            </a:r>
            <a:r>
              <a:rPr lang="en-US" sz="13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Meaning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63" name="Google Shape;263;p27"/>
          <p:cNvSpPr txBox="1"/>
          <p:nvPr/>
        </p:nvSpPr>
        <p:spPr>
          <a:xfrm>
            <a:off x="4739115" y="3519487"/>
            <a:ext cx="2713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Scalable</a:t>
            </a:r>
            <a:endParaRPr/>
          </a:p>
        </p:txBody>
      </p:sp>
      <p:sp>
        <p:nvSpPr>
          <p:cNvPr id="264" name="Google Shape;264;p27"/>
          <p:cNvSpPr txBox="1"/>
          <p:nvPr/>
        </p:nvSpPr>
        <p:spPr>
          <a:xfrm>
            <a:off x="4803725" y="4005262"/>
            <a:ext cx="2584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Designed to process millions of nodes with low latency.</a:t>
            </a:r>
            <a:endParaRPr/>
          </a:p>
        </p:txBody>
      </p:sp>
      <p:sp>
        <p:nvSpPr>
          <p:cNvPr id="265" name="Google Shape;265;p27"/>
          <p:cNvSpPr txBox="1"/>
          <p:nvPr/>
        </p:nvSpPr>
        <p:spPr>
          <a:xfrm>
            <a:off x="8390312" y="3519487"/>
            <a:ext cx="271377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Human-Centric</a:t>
            </a:r>
            <a:endParaRPr/>
          </a:p>
        </p:txBody>
      </p:sp>
      <p:sp>
        <p:nvSpPr>
          <p:cNvPr id="266" name="Google Shape;266;p27"/>
          <p:cNvSpPr txBox="1"/>
          <p:nvPr/>
        </p:nvSpPr>
        <p:spPr>
          <a:xfrm>
            <a:off x="8454925" y="4005262"/>
            <a:ext cx="2584549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Built for people, not just for metrics.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419350"/>
            <a:ext cx="1066800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2525" y="36004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2525" y="41814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06241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8"/>
          <p:cNvSpPr txBox="1"/>
          <p:nvPr/>
        </p:nvSpPr>
        <p:spPr>
          <a:xfrm>
            <a:off x="762000" y="57150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WATCHING TO SUGGESTION</a:t>
            </a:r>
            <a:endParaRPr/>
          </a:p>
        </p:txBody>
      </p:sp>
      <p:sp>
        <p:nvSpPr>
          <p:cNvPr id="277" name="Google Shape;277;p28"/>
          <p:cNvSpPr txBox="1"/>
          <p:nvPr/>
        </p:nvSpPr>
        <p:spPr>
          <a:xfrm>
            <a:off x="1152525" y="2809875"/>
            <a:ext cx="9886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User watched: </a:t>
            </a:r>
            <a:r>
              <a:rPr lang="en-US" sz="24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Interstellar</a:t>
            </a:r>
            <a:endParaRPr/>
          </a:p>
        </p:txBody>
      </p:sp>
      <p:sp>
        <p:nvSpPr>
          <p:cNvPr id="278" name="Google Shape;278;p28"/>
          <p:cNvSpPr txBox="1"/>
          <p:nvPr/>
        </p:nvSpPr>
        <p:spPr>
          <a:xfrm>
            <a:off x="1543050" y="3552825"/>
            <a:ext cx="4267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Suggest </a:t>
            </a:r>
            <a:r>
              <a:rPr lang="en-US" sz="1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Inception</a:t>
            </a: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(Pattern)</a:t>
            </a:r>
            <a:endParaRPr/>
          </a:p>
        </p:txBody>
      </p:sp>
      <p:sp>
        <p:nvSpPr>
          <p:cNvPr id="279" name="Google Shape;279;p28"/>
          <p:cNvSpPr txBox="1"/>
          <p:nvPr/>
        </p:nvSpPr>
        <p:spPr>
          <a:xfrm>
            <a:off x="1543050" y="4133850"/>
            <a:ext cx="4267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Suggest </a:t>
            </a:r>
            <a:r>
              <a:rPr lang="en-US" sz="1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2001: Space Odyssey</a:t>
            </a: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(Influence)</a:t>
            </a:r>
            <a:endParaRPr/>
          </a:p>
        </p:txBody>
      </p:sp>
      <p:sp>
        <p:nvSpPr>
          <p:cNvPr id="280" name="Google Shape;280;p28"/>
          <p:cNvSpPr txBox="1"/>
          <p:nvPr/>
        </p:nvSpPr>
        <p:spPr>
          <a:xfrm>
            <a:off x="6772275" y="4014787"/>
            <a:ext cx="4267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Suggest </a:t>
            </a:r>
            <a:r>
              <a:rPr lang="en-US" sz="1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Martian</a:t>
            </a: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(Meaning)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033712"/>
            <a:ext cx="336545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3033712"/>
            <a:ext cx="336545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3033712"/>
            <a:ext cx="3365599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9"/>
          <p:cNvSpPr txBox="1"/>
          <p:nvPr/>
        </p:nvSpPr>
        <p:spPr>
          <a:xfrm>
            <a:off x="1152525" y="3424237"/>
            <a:ext cx="2584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+40%</a:t>
            </a:r>
            <a:endParaRPr/>
          </a:p>
        </p:txBody>
      </p:sp>
      <p:sp>
        <p:nvSpPr>
          <p:cNvPr id="290" name="Google Shape;290;p29"/>
          <p:cNvSpPr txBox="1"/>
          <p:nvPr/>
        </p:nvSpPr>
        <p:spPr>
          <a:xfrm>
            <a:off x="4803725" y="3424237"/>
            <a:ext cx="2584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+25%</a:t>
            </a:r>
            <a:endParaRPr/>
          </a:p>
        </p:txBody>
      </p:sp>
      <p:sp>
        <p:nvSpPr>
          <p:cNvPr id="291" name="Google Shape;291;p29"/>
          <p:cNvSpPr txBox="1"/>
          <p:nvPr/>
        </p:nvSpPr>
        <p:spPr>
          <a:xfrm>
            <a:off x="8454925" y="3424237"/>
            <a:ext cx="2584549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-60%</a:t>
            </a:r>
            <a:endParaRPr/>
          </a:p>
        </p:txBody>
      </p:sp>
      <p:sp>
        <p:nvSpPr>
          <p:cNvPr id="292" name="Google Shape;292;p29"/>
          <p:cNvSpPr txBox="1"/>
          <p:nvPr/>
        </p:nvSpPr>
        <p:spPr>
          <a:xfrm>
            <a:off x="762000" y="57150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THIS MATTERS</a:t>
            </a:r>
            <a:endParaRPr/>
          </a:p>
        </p:txBody>
      </p:sp>
      <p:sp>
        <p:nvSpPr>
          <p:cNvPr id="293" name="Google Shape;293;p29"/>
          <p:cNvSpPr txBox="1"/>
          <p:nvPr/>
        </p:nvSpPr>
        <p:spPr>
          <a:xfrm>
            <a:off x="1152525" y="4186237"/>
            <a:ext cx="25844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Increase in Discovery Rate</a:t>
            </a:r>
            <a:endParaRPr/>
          </a:p>
        </p:txBody>
      </p:sp>
      <p:sp>
        <p:nvSpPr>
          <p:cNvPr id="294" name="Google Shape;294;p29"/>
          <p:cNvSpPr txBox="1"/>
          <p:nvPr/>
        </p:nvSpPr>
        <p:spPr>
          <a:xfrm>
            <a:off x="4803725" y="4186237"/>
            <a:ext cx="25844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Watch Time Engagement</a:t>
            </a:r>
            <a:endParaRPr/>
          </a:p>
        </p:txBody>
      </p:sp>
      <p:sp>
        <p:nvSpPr>
          <p:cNvPr id="295" name="Google Shape;295;p29"/>
          <p:cNvSpPr txBox="1"/>
          <p:nvPr/>
        </p:nvSpPr>
        <p:spPr>
          <a:xfrm>
            <a:off x="8454925" y="4186237"/>
            <a:ext cx="25845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Churn Rate (Estimated)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1099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6909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27196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0"/>
          <p:cNvSpPr txBox="1"/>
          <p:nvPr/>
        </p:nvSpPr>
        <p:spPr>
          <a:xfrm>
            <a:off x="762000" y="57150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NOT EVERYTHING WAS EASY</a:t>
            </a:r>
            <a:endParaRPr/>
          </a:p>
        </p:txBody>
      </p:sp>
      <p:sp>
        <p:nvSpPr>
          <p:cNvPr id="305" name="Google Shape;305;p30"/>
          <p:cNvSpPr txBox="1"/>
          <p:nvPr/>
        </p:nvSpPr>
        <p:spPr>
          <a:xfrm>
            <a:off x="1181100" y="3062287"/>
            <a:ext cx="10248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Sparse Data:</a:t>
            </a: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Handling users with only 1-2 ratings required robust smoothing.</a:t>
            </a:r>
            <a:endParaRPr/>
          </a:p>
        </p:txBody>
      </p:sp>
      <p:sp>
        <p:nvSpPr>
          <p:cNvPr id="306" name="Google Shape;306;p30"/>
          <p:cNvSpPr txBox="1"/>
          <p:nvPr/>
        </p:nvSpPr>
        <p:spPr>
          <a:xfrm>
            <a:off x="1181100" y="3643312"/>
            <a:ext cx="10248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Scale:</a:t>
            </a: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Computing BERT embeddings for 10,000+ movies takes significant GPU time.</a:t>
            </a:r>
            <a:endParaRPr/>
          </a:p>
        </p:txBody>
      </p:sp>
      <p:sp>
        <p:nvSpPr>
          <p:cNvPr id="307" name="Google Shape;307;p30"/>
          <p:cNvSpPr txBox="1"/>
          <p:nvPr/>
        </p:nvSpPr>
        <p:spPr>
          <a:xfrm>
            <a:off x="1181100" y="4224337"/>
            <a:ext cx="10248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Quality:</a:t>
            </a: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Cleaning TMDb overviews for consistent linguistic patterns.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 txBox="1"/>
          <p:nvPr/>
        </p:nvSpPr>
        <p:spPr>
          <a:xfrm>
            <a:off x="6667500" y="2238375"/>
            <a:ext cx="52006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IT'S ABOUT PEOPLE</a:t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6667500" y="3248025"/>
            <a:ext cx="4953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Algorithms are the tool, but understanding human taste is the goal. We don't just build models; we build connections between people and the stories they love.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8005" y="2774400"/>
            <a:ext cx="2190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61380" y="277440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2"/>
          <p:cNvSpPr txBox="1"/>
          <p:nvPr/>
        </p:nvSpPr>
        <p:spPr>
          <a:xfrm>
            <a:off x="495300" y="571500"/>
            <a:ext cx="11201400" cy="120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</a:t>
            </a:r>
            <a:endParaRPr/>
          </a:p>
        </p:txBody>
      </p:sp>
      <p:sp>
        <p:nvSpPr>
          <p:cNvPr id="323" name="Google Shape;323;p32"/>
          <p:cNvSpPr txBox="1"/>
          <p:nvPr/>
        </p:nvSpPr>
        <p:spPr>
          <a:xfrm>
            <a:off x="762000" y="1781175"/>
            <a:ext cx="10668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ANY QUESTIONS?</a:t>
            </a:r>
            <a:endParaRPr/>
          </a:p>
        </p:txBody>
      </p:sp>
      <p:sp>
        <p:nvSpPr>
          <p:cNvPr id="324" name="Google Shape;324;p32"/>
          <p:cNvSpPr txBox="1"/>
          <p:nvPr/>
        </p:nvSpPr>
        <p:spPr>
          <a:xfrm>
            <a:off x="4571999" y="2635800"/>
            <a:ext cx="188765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sng" strike="noStrike" cap="none" dirty="0">
                <a:solidFill>
                  <a:schemeClr val="hlink"/>
                </a:solidFill>
                <a:latin typeface="Urbanist"/>
                <a:ea typeface="Urbanist"/>
                <a:cs typeface="Urbanist"/>
                <a:sym typeface="Urbanist"/>
                <a:hlinkClick r:id="rId6"/>
              </a:rPr>
              <a:t> Project Repo</a:t>
            </a:r>
            <a:endParaRPr dirty="0"/>
          </a:p>
        </p:txBody>
      </p:sp>
      <p:sp>
        <p:nvSpPr>
          <p:cNvPr id="325" name="Google Shape;325;p32"/>
          <p:cNvSpPr txBox="1"/>
          <p:nvPr/>
        </p:nvSpPr>
        <p:spPr>
          <a:xfrm>
            <a:off x="6387434" y="2643648"/>
            <a:ext cx="2153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sng" strike="noStrike" cap="none" dirty="0">
                <a:solidFill>
                  <a:schemeClr val="hlink"/>
                </a:solidFill>
                <a:latin typeface="Urbanist"/>
                <a:ea typeface="Urbanist"/>
                <a:cs typeface="Urbanist"/>
                <a:sym typeface="Urbanist"/>
                <a:hlinkClick r:id="rId7"/>
              </a:rPr>
              <a:t> Let's Connect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653</Words>
  <Application>Microsoft Office PowerPoint</Application>
  <PresentationFormat>Widescreen</PresentationFormat>
  <Paragraphs>87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Urbanist Medium</vt:lpstr>
      <vt:lpstr>Urbanist ExtraBold</vt:lpstr>
      <vt:lpstr>Calibri</vt:lpstr>
      <vt:lpstr>Arial</vt:lpstr>
      <vt:lpstr>Space Grotesk</vt:lpstr>
      <vt:lpstr>Urbanist</vt:lpstr>
      <vt:lpstr>Urbanist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Mohammed Salah</cp:lastModifiedBy>
  <cp:revision>1</cp:revision>
  <dcterms:modified xsi:type="dcterms:W3CDTF">2026-05-02T11:02:27Z</dcterms:modified>
</cp:coreProperties>
</file>